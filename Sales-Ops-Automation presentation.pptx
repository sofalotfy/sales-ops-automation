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3FCDA2A-DCE5-40F9-9C0C-7C96EF43F4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092453-6A6A-4228-9FC6-63EB7926D4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B6D5CA-507F-4553-AB76-E0D169D088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55666C-E77D-4A5F-9BD8-5357FB9736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A366FD-927D-4BF6-ADCB-2EBA87F51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95C823-A47A-494C-9F58-933D0AAC00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D186FA-86B8-4157-BCB6-5BC61BD891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CEC002-907E-465D-9614-D73D57E520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4206240"/>
            <a:ext cx="5943240" cy="5943240"/>
          </a:xfrm>
          <a:prstGeom prst="ellipse">
            <a:avLst/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5120640"/>
            <a:ext cx="4114440" cy="4114440"/>
          </a:xfrm>
          <a:prstGeom prst="ellipse">
            <a:avLst/>
          </a:prstGeom>
          <a:solidFill>
            <a:srgbClr val="222C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233172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SALES OPS AUTOMATION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2743200"/>
            <a:ext cx="98751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Every inbound lead,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enriched and scored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automatically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22960" y="4709160"/>
            <a:ext cx="1188720" cy="360"/>
          </a:xfrm>
          <a:prstGeom prst="line">
            <a:avLst/>
          </a:prstGeom>
          <a:ln w="254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48920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Why · What · How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48640" y="45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WHY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7772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Manual lead research doesn't scale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48640" y="160020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Leads arrive in the CRM faster than anyone can research them. Before a rep can even judge a lead, someone has to search the web, piece together who the company and contact are, and decide if it's worth pursuing — one lead at a time.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48640" y="2788920"/>
            <a:ext cx="3410280" cy="3154320"/>
          </a:xfrm>
          <a:prstGeom prst="roundRect">
            <a:avLst>
              <a:gd name="adj" fmla="val 2899"/>
            </a:avLst>
          </a:prstGeom>
          <a:solidFill>
            <a:srgbClr val="F5F8FE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868680" y="3108960"/>
            <a:ext cx="548280" cy="548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868680" y="31089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868680" y="3840480"/>
            <a:ext cx="277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Slow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868680" y="4297680"/>
            <a:ext cx="2770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Every lead needs its own manual round of searching, reading, and note-taking before it can even be judged.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4187880" y="2788920"/>
            <a:ext cx="3410280" cy="3154320"/>
          </a:xfrm>
          <a:prstGeom prst="roundRect">
            <a:avLst>
              <a:gd name="adj" fmla="val 2899"/>
            </a:avLst>
          </a:prstGeom>
          <a:solidFill>
            <a:srgbClr val="F5F8FE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4507920" y="3108960"/>
            <a:ext cx="548280" cy="548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4507920" y="31089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4507920" y="3840480"/>
            <a:ext cx="277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Inconsistent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4507920" y="4297680"/>
            <a:ext cx="2770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Without a fixed set of criteria, two reps can reach two different verdicts on the same lead.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7827120" y="2788920"/>
            <a:ext cx="3410280" cy="3154320"/>
          </a:xfrm>
          <a:prstGeom prst="roundRect">
            <a:avLst>
              <a:gd name="adj" fmla="val 2899"/>
            </a:avLst>
          </a:prstGeom>
          <a:solidFill>
            <a:srgbClr val="F5F8FE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8147160" y="3108960"/>
            <a:ext cx="548280" cy="548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8147160" y="31089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8147160" y="3840480"/>
            <a:ext cx="277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Untraceable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8147160" y="4297680"/>
            <a:ext cx="2770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Once a lead is marked good or bad, the reasoning and the sources behind it are rarely written down anywhere.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54864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Sales Ops Automation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48640" y="45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WHAT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48640" y="7772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One system, from raw lead to CRM verdict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48640" y="1828800"/>
            <a:ext cx="50288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A system that takes every lead coming out of the CRM, researches it automatically, and hands back a score, a reason, and the evidence behind it — with nothing left for a rep to look up by hand.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548640" y="3620880"/>
            <a:ext cx="127800" cy="1278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868680" y="34563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Enriches every lead with public company and contact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548640" y="4187880"/>
            <a:ext cx="127800" cy="1278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868680" y="40233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Scores each lead against a configurable set of qualification factors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548640" y="4754880"/>
            <a:ext cx="127800" cy="1278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868680" y="45903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Writes the score and research straight back to the CRM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548640" y="5321880"/>
            <a:ext cx="127800" cy="1278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868680" y="51573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Gives full visibility into how and why each verdict was reached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6309360" y="1920240"/>
            <a:ext cx="5348880" cy="393156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6766560" y="2377440"/>
            <a:ext cx="4434480" cy="776880"/>
          </a:xfrm>
          <a:prstGeom prst="roundRect">
            <a:avLst>
              <a:gd name="adj" fmla="val 9412"/>
            </a:avLst>
          </a:prstGeom>
          <a:solidFill>
            <a:srgbClr val="2B35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6766560" y="2377440"/>
            <a:ext cx="4434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8801280" y="312732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6766560" y="3319200"/>
            <a:ext cx="4434480" cy="776880"/>
          </a:xfrm>
          <a:prstGeom prst="roundRect">
            <a:avLst>
              <a:gd name="adj" fmla="val 9412"/>
            </a:avLst>
          </a:prstGeom>
          <a:solidFill>
            <a:srgbClr val="2B35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6766560" y="3319200"/>
            <a:ext cx="4434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Enriched profile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8801280" y="406908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6766560" y="4260960"/>
            <a:ext cx="4434480" cy="776880"/>
          </a:xfrm>
          <a:prstGeom prst="roundRect">
            <a:avLst>
              <a:gd name="adj" fmla="val 9412"/>
            </a:avLst>
          </a:prstGeom>
          <a:solidFill>
            <a:srgbClr val="2B35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6766560" y="4260960"/>
            <a:ext cx="4434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Score &amp; reasoning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8801280" y="501084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1"/>
          <p:cNvSpPr/>
          <p:nvPr/>
        </p:nvSpPr>
        <p:spPr>
          <a:xfrm>
            <a:off x="6766560" y="5203080"/>
            <a:ext cx="4434480" cy="77688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6766560" y="5203080"/>
            <a:ext cx="4434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CRM update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54864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Sales Ops Automation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48640" y="45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HOW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48640" y="7772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The pipeline, step by step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548640" y="1828800"/>
            <a:ext cx="3611520" cy="2057040"/>
          </a:xfrm>
          <a:prstGeom prst="roundRect">
            <a:avLst>
              <a:gd name="adj" fmla="val 4444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822960" y="21031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822960" y="2103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1417320" y="20847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Webhook intake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822960" y="2697480"/>
            <a:ext cx="3062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The lead arrives straight from the CRM the moment it's created.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4160520" y="2629080"/>
            <a:ext cx="13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297680" y="1828800"/>
            <a:ext cx="3611520" cy="2057040"/>
          </a:xfrm>
          <a:prstGeom prst="roundRect">
            <a:avLst>
              <a:gd name="adj" fmla="val 4444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4572000" y="21031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4572000" y="2103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5166360" y="20847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Scope check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4572000" y="2697480"/>
            <a:ext cx="3062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The lead is checked against basic scope rules before any research is spent on 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7909560" y="2629080"/>
            <a:ext cx="13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8046720" y="1828800"/>
            <a:ext cx="3611520" cy="2057040"/>
          </a:xfrm>
          <a:prstGeom prst="roundRect">
            <a:avLst>
              <a:gd name="adj" fmla="val 4444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8321040" y="21031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8321040" y="2103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8915400" y="20847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Web research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8321040" y="2697480"/>
            <a:ext cx="3062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Targeted questions are sent to a search engine to gather public company and contact data.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548640" y="4114800"/>
            <a:ext cx="3611520" cy="2057040"/>
          </a:xfrm>
          <a:prstGeom prst="roundRect">
            <a:avLst>
              <a:gd name="adj" fmla="val 4444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0"/>
          <p:cNvSpPr/>
          <p:nvPr/>
        </p:nvSpPr>
        <p:spPr>
          <a:xfrm>
            <a:off x="822960" y="43891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822960" y="438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2"/>
          <p:cNvSpPr/>
          <p:nvPr/>
        </p:nvSpPr>
        <p:spPr>
          <a:xfrm>
            <a:off x="1417320" y="43707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AI extraction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3"/>
          <p:cNvSpPr/>
          <p:nvPr/>
        </p:nvSpPr>
        <p:spPr>
          <a:xfrm>
            <a:off x="822960" y="4983480"/>
            <a:ext cx="3062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An AI reads the search results and pulls out the facts that are actually relevant to this lead.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4"/>
          <p:cNvSpPr/>
          <p:nvPr/>
        </p:nvSpPr>
        <p:spPr>
          <a:xfrm>
            <a:off x="4160520" y="4915080"/>
            <a:ext cx="13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5"/>
          <p:cNvSpPr/>
          <p:nvPr/>
        </p:nvSpPr>
        <p:spPr>
          <a:xfrm>
            <a:off x="4297680" y="4114800"/>
            <a:ext cx="3611520" cy="2057040"/>
          </a:xfrm>
          <a:prstGeom prst="roundRect">
            <a:avLst>
              <a:gd name="adj" fmla="val 4444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6"/>
          <p:cNvSpPr/>
          <p:nvPr/>
        </p:nvSpPr>
        <p:spPr>
          <a:xfrm>
            <a:off x="4572000" y="43891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7"/>
          <p:cNvSpPr/>
          <p:nvPr/>
        </p:nvSpPr>
        <p:spPr>
          <a:xfrm>
            <a:off x="4572000" y="438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8"/>
          <p:cNvSpPr/>
          <p:nvPr/>
        </p:nvSpPr>
        <p:spPr>
          <a:xfrm>
            <a:off x="5166360" y="43707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AI judgment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9"/>
          <p:cNvSpPr/>
          <p:nvPr/>
        </p:nvSpPr>
        <p:spPr>
          <a:xfrm>
            <a:off x="4572000" y="4983480"/>
            <a:ext cx="3062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A second AI weighs the lead against the qualification factors and produces a Low, Medium, or High score.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0"/>
          <p:cNvSpPr/>
          <p:nvPr/>
        </p:nvSpPr>
        <p:spPr>
          <a:xfrm>
            <a:off x="7909560" y="4915080"/>
            <a:ext cx="13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1"/>
          <p:cNvSpPr/>
          <p:nvPr/>
        </p:nvSpPr>
        <p:spPr>
          <a:xfrm>
            <a:off x="8046720" y="4114800"/>
            <a:ext cx="3611520" cy="2057040"/>
          </a:xfrm>
          <a:prstGeom prst="roundRect">
            <a:avLst>
              <a:gd name="adj" fmla="val 4444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2"/>
          <p:cNvSpPr/>
          <p:nvPr/>
        </p:nvSpPr>
        <p:spPr>
          <a:xfrm>
            <a:off x="8321040" y="43891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3"/>
          <p:cNvSpPr/>
          <p:nvPr/>
        </p:nvSpPr>
        <p:spPr>
          <a:xfrm>
            <a:off x="8321040" y="438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4"/>
          <p:cNvSpPr/>
          <p:nvPr/>
        </p:nvSpPr>
        <p:spPr>
          <a:xfrm>
            <a:off x="8915400" y="4370760"/>
            <a:ext cx="25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CRM write-back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5"/>
          <p:cNvSpPr/>
          <p:nvPr/>
        </p:nvSpPr>
        <p:spPr>
          <a:xfrm>
            <a:off x="8321040" y="4983480"/>
            <a:ext cx="3062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The score, the reasoning, and the research are saved back onto the lead in the CRM.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6"/>
          <p:cNvSpPr/>
          <p:nvPr/>
        </p:nvSpPr>
        <p:spPr>
          <a:xfrm>
            <a:off x="54864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Sales Ops Automation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48640" y="45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HOW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48640" y="7772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Every lead gets a score — not a stop sign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48640" y="157284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The AI judge weighs the gathered data against a set of qualification factors — fit, urgency, budget signals, and more — whose weights can be tuned from the dashboard. A score reflects the evidence gathered so far; a lead can still be researched further and rescored as new information comes in.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548640" y="2743200"/>
            <a:ext cx="3355560" cy="3154320"/>
          </a:xfrm>
          <a:prstGeom prst="roundRect">
            <a:avLst>
              <a:gd name="adj" fmla="val 2899"/>
            </a:avLst>
          </a:prstGeom>
          <a:solidFill>
            <a:srgbClr val="F5F8FE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822960" y="3108960"/>
            <a:ext cx="280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Low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822960" y="3886200"/>
            <a:ext cx="2806920" cy="360"/>
          </a:xfrm>
          <a:prstGeom prst="line">
            <a:avLst/>
          </a:prstGeom>
          <a:ln w="9525">
            <a:solidFill>
              <a:srgbClr val="1E276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822960" y="4069080"/>
            <a:ext cx="28069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Weak fit or key signals are missing. Needs more information before it's worth acting 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4178880" y="2743200"/>
            <a:ext cx="3355560" cy="3154320"/>
          </a:xfrm>
          <a:prstGeom prst="roundRect">
            <a:avLst>
              <a:gd name="adj" fmla="val 2899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4453200" y="3108960"/>
            <a:ext cx="280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Medium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4452840" y="3886200"/>
            <a:ext cx="2807280" cy="360"/>
          </a:xfrm>
          <a:prstGeom prst="line">
            <a:avLst/>
          </a:prstGeom>
          <a:ln w="9525">
            <a:solidFill>
              <a:srgbClr val="1E276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4453200" y="4069080"/>
            <a:ext cx="28069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Some good signals, but real gaps remain. Worth another pass of research before deciding.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7809120" y="2743200"/>
            <a:ext cx="3355560" cy="3154320"/>
          </a:xfrm>
          <a:prstGeom prst="roundRect">
            <a:avLst>
              <a:gd name="adj" fmla="val 289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8083440" y="3108960"/>
            <a:ext cx="280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High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8083080" y="3886200"/>
            <a:ext cx="2807280" cy="360"/>
          </a:xfrm>
          <a:prstGeom prst="line">
            <a:avLst/>
          </a:prstGeom>
          <a:ln w="9525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8083440" y="4069080"/>
            <a:ext cx="28069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Strong across the factors gathered so far. A good candidate to prioritize — new information can still move the score.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54864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Sales Ops Automation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48640" y="45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HOW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48640" y="7772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Nothing happens off the record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548640" y="160020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A dashboard sits alongside the pipeline so every inquiry can be reviewed after the fact — not just the verdict, but how the system reached 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48640" y="2331720"/>
            <a:ext cx="4937400" cy="639720"/>
          </a:xfrm>
          <a:prstGeom prst="roundRect">
            <a:avLst>
              <a:gd name="adj" fmla="val 11429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777240" y="251460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1234440" y="236844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Timestamped runs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1234440" y="265176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Every inquiry is logged with when its research and scoring ran.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548640" y="3063240"/>
            <a:ext cx="4937400" cy="639720"/>
          </a:xfrm>
          <a:prstGeom prst="roundRect">
            <a:avLst>
              <a:gd name="adj" fmla="val 11429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777240" y="324612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1234440" y="309996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Full reasoning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1234440" y="33832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The judge's reasoning behind each score is stored, not just the label.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"/>
          <p:cNvSpPr/>
          <p:nvPr/>
        </p:nvSpPr>
        <p:spPr>
          <a:xfrm>
            <a:off x="548640" y="3794760"/>
            <a:ext cx="4937400" cy="639720"/>
          </a:xfrm>
          <a:prstGeom prst="roundRect">
            <a:avLst>
              <a:gd name="adj" fmla="val 11429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777240" y="397764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1234440" y="38314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Sources used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1234440" y="411480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Every link the research relied on is listed against the lead.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548640" y="4526280"/>
            <a:ext cx="4937400" cy="639720"/>
          </a:xfrm>
          <a:prstGeom prst="roundRect">
            <a:avLst>
              <a:gd name="adj" fmla="val 11429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6"/>
          <p:cNvSpPr/>
          <p:nvPr/>
        </p:nvSpPr>
        <p:spPr>
          <a:xfrm>
            <a:off x="777240" y="470916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1234440" y="456300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Sources rejected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1234440" y="48463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Links that were found but excluded are kept too, with the reason why.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9"/>
          <p:cNvSpPr/>
          <p:nvPr/>
        </p:nvSpPr>
        <p:spPr>
          <a:xfrm>
            <a:off x="548640" y="5257800"/>
            <a:ext cx="4937400" cy="639720"/>
          </a:xfrm>
          <a:prstGeom prst="roundRect">
            <a:avLst>
              <a:gd name="adj" fmla="val 11429"/>
            </a:avLst>
          </a:prstGeom>
          <a:solidFill>
            <a:srgbClr val="F5F8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0"/>
          <p:cNvSpPr/>
          <p:nvPr/>
        </p:nvSpPr>
        <p:spPr>
          <a:xfrm>
            <a:off x="777240" y="544068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1234440" y="52945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Adjustable weights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1234440" y="557784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474"/>
                </a:solidFill>
                <a:effectLst/>
                <a:uFillTx/>
                <a:latin typeface="Calibri"/>
                <a:ea typeface="Calibri"/>
              </a:rPr>
              <a:t>Factor weights can be tuned right from the dashboard to shift how leads are scored.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7"/>
          <p:cNvSpPr/>
          <p:nvPr/>
        </p:nvSpPr>
        <p:spPr>
          <a:xfrm>
            <a:off x="54864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3A6"/>
                </a:solidFill>
                <a:effectLst/>
                <a:uFillTx/>
                <a:latin typeface="Calibri"/>
                <a:ea typeface="Calibri"/>
              </a:rPr>
              <a:t>Sales Ops Automation — illustrative dashboard view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-2286000" y="-2286000"/>
            <a:ext cx="5486040" cy="5486040"/>
          </a:xfrm>
          <a:prstGeom prst="ellipse">
            <a:avLst/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822960" y="22860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THE RESULT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777240" y="2651760"/>
            <a:ext cx="9875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Research and judgment happen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moment a lead lands.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822960" y="434340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Reps spend their time on the leads worth pursuing — with a documented, consistent reason for every one of them.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2026-09-24T11:33:19Z</dcterms:created>
  <dc:creator>PptxGenJS</dc:creator>
  <dc:description/>
  <dc:language>en-US</dc:language>
  <cp:lastModifiedBy/>
  <dcterms:modified xsi:type="dcterms:W3CDTF">2026-09-24T14:36:36Z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